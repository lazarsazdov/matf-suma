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BeeZee" charset="1" panose="02000000000000000000"/>
      <p:regular r:id="rId17"/>
    </p:embeddedFont>
    <p:embeddedFont>
      <p:font typeface="ABeeZee Bold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92699" y="-4311567"/>
            <a:ext cx="8439892" cy="8623134"/>
          </a:xfrm>
          <a:custGeom>
            <a:avLst/>
            <a:gdLst/>
            <a:ahLst/>
            <a:cxnLst/>
            <a:rect r="r" b="b" t="t" l="l"/>
            <a:pathLst>
              <a:path h="8623134" w="8439892">
                <a:moveTo>
                  <a:pt x="0" y="0"/>
                </a:moveTo>
                <a:lnTo>
                  <a:pt x="8439892" y="0"/>
                </a:lnTo>
                <a:lnTo>
                  <a:pt x="8439892" y="8623134"/>
                </a:lnTo>
                <a:lnTo>
                  <a:pt x="0" y="8623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53725" y="6373705"/>
            <a:ext cx="860753" cy="1333846"/>
          </a:xfrm>
          <a:custGeom>
            <a:avLst/>
            <a:gdLst/>
            <a:ahLst/>
            <a:cxnLst/>
            <a:rect r="r" b="b" t="t" l="l"/>
            <a:pathLst>
              <a:path h="1333846" w="860753">
                <a:moveTo>
                  <a:pt x="0" y="0"/>
                </a:moveTo>
                <a:lnTo>
                  <a:pt x="860753" y="0"/>
                </a:lnTo>
                <a:lnTo>
                  <a:pt x="860753" y="1333846"/>
                </a:lnTo>
                <a:lnTo>
                  <a:pt x="0" y="1333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186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6199" y="7040628"/>
            <a:ext cx="2362343" cy="3368761"/>
          </a:xfrm>
          <a:custGeom>
            <a:avLst/>
            <a:gdLst/>
            <a:ahLst/>
            <a:cxnLst/>
            <a:rect r="r" b="b" t="t" l="l"/>
            <a:pathLst>
              <a:path h="3368761" w="2362343">
                <a:moveTo>
                  <a:pt x="0" y="0"/>
                </a:moveTo>
                <a:lnTo>
                  <a:pt x="2362343" y="0"/>
                </a:lnTo>
                <a:lnTo>
                  <a:pt x="2362343" y="3368761"/>
                </a:lnTo>
                <a:lnTo>
                  <a:pt x="0" y="3368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91531" y="-80059"/>
            <a:ext cx="5335395" cy="5223559"/>
          </a:xfrm>
          <a:custGeom>
            <a:avLst/>
            <a:gdLst/>
            <a:ahLst/>
            <a:cxnLst/>
            <a:rect r="r" b="b" t="t" l="l"/>
            <a:pathLst>
              <a:path h="5223559" w="5335395">
                <a:moveTo>
                  <a:pt x="0" y="0"/>
                </a:moveTo>
                <a:lnTo>
                  <a:pt x="5335396" y="0"/>
                </a:lnTo>
                <a:lnTo>
                  <a:pt x="5335396" y="5223559"/>
                </a:lnTo>
                <a:lnTo>
                  <a:pt x="0" y="5223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6552" y="3409558"/>
            <a:ext cx="10480833" cy="140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88"/>
              </a:lnSpc>
            </a:pPr>
            <a:r>
              <a:rPr lang="en-US" sz="9808">
                <a:solidFill>
                  <a:srgbClr val="5E17EB"/>
                </a:solidFill>
                <a:latin typeface="ABeeZee"/>
                <a:ea typeface="ABeeZee"/>
                <a:cs typeface="ABeeZee"/>
                <a:sym typeface="ABeeZee"/>
              </a:rPr>
              <a:t>Our data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5303" y="1580373"/>
            <a:ext cx="5488042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  <a:spcBef>
                <a:spcPct val="0"/>
              </a:spcBef>
            </a:pPr>
            <a:r>
              <a:rPr lang="en-US" sz="2499">
                <a:solidFill>
                  <a:srgbClr val="5E17EB"/>
                </a:solidFill>
                <a:latin typeface="ABeeZee"/>
                <a:ea typeface="ABeeZee"/>
                <a:cs typeface="ABeeZee"/>
                <a:sym typeface="ABeeZee"/>
              </a:rPr>
              <a:t>undefined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91647" y="1569494"/>
            <a:ext cx="11996353" cy="8599710"/>
          </a:xfrm>
          <a:custGeom>
            <a:avLst/>
            <a:gdLst/>
            <a:ahLst/>
            <a:cxnLst/>
            <a:rect r="r" b="b" t="t" l="l"/>
            <a:pathLst>
              <a:path h="8599710" w="11996353">
                <a:moveTo>
                  <a:pt x="0" y="0"/>
                </a:moveTo>
                <a:lnTo>
                  <a:pt x="11996353" y="0"/>
                </a:lnTo>
                <a:lnTo>
                  <a:pt x="11996353" y="8599711"/>
                </a:lnTo>
                <a:lnTo>
                  <a:pt x="0" y="859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3" r="-3070" b="-3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987" y="430026"/>
            <a:ext cx="16746313" cy="59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4"/>
              </a:lnSpc>
              <a:spcBef>
                <a:spcPct val="0"/>
              </a:spcBef>
            </a:pPr>
            <a:r>
              <a:rPr lang="en-US" sz="4167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Not all insurers compete everywhere and that creates opportunity.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2987" y="2382078"/>
            <a:ext cx="5872979" cy="877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3"/>
              </a:lnSpc>
            </a:pPr>
            <a:r>
              <a:rPr lang="en-US" sz="3094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Limited_casco</a:t>
            </a:r>
            <a:r>
              <a:rPr lang="en-US" sz="3094">
                <a:solidFill>
                  <a:srgbClr val="5E17EB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r>
              <a:rPr lang="en-US" sz="3094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the most popular and the highest var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2987" y="4151751"/>
            <a:ext cx="5872979" cy="44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3"/>
              </a:lnSpc>
            </a:pPr>
            <a:r>
              <a:rPr lang="en-US" sz="3094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H </a:t>
            </a:r>
            <a:r>
              <a:rPr lang="en-US" sz="3094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is</a:t>
            </a:r>
            <a:r>
              <a:rPr lang="en-US" sz="3094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 </a:t>
            </a:r>
            <a:r>
              <a:rPr lang="en-US" sz="3094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extremely selective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2987" y="5420476"/>
            <a:ext cx="5872979" cy="44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3"/>
              </a:lnSpc>
            </a:pPr>
            <a:r>
              <a:rPr lang="en-US" sz="3094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A </a:t>
            </a:r>
            <a:r>
              <a:rPr lang="en-US" sz="3094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dominates across all types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7259" y="-94135"/>
            <a:ext cx="5335395" cy="5223559"/>
          </a:xfrm>
          <a:custGeom>
            <a:avLst/>
            <a:gdLst/>
            <a:ahLst/>
            <a:cxnLst/>
            <a:rect r="r" b="b" t="t" l="l"/>
            <a:pathLst>
              <a:path h="5223559" w="5335395">
                <a:moveTo>
                  <a:pt x="0" y="0"/>
                </a:moveTo>
                <a:lnTo>
                  <a:pt x="5335396" y="0"/>
                </a:lnTo>
                <a:lnTo>
                  <a:pt x="5335396" y="5223560"/>
                </a:lnTo>
                <a:lnTo>
                  <a:pt x="0" y="52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0162" y="6791638"/>
            <a:ext cx="4400668" cy="13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  <a:spcBef>
                <a:spcPct val="0"/>
              </a:spcBef>
            </a:pPr>
            <a:r>
              <a:rPr lang="en-US" sz="3094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K </a:t>
            </a:r>
            <a:r>
              <a:rPr lang="en-US" sz="3094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wins just 1% quoting 66% of the time it is </a:t>
            </a:r>
            <a:r>
              <a:rPr lang="en-US" sz="3094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the most overpriced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296145" y="-4311567"/>
            <a:ext cx="8439892" cy="8623134"/>
          </a:xfrm>
          <a:custGeom>
            <a:avLst/>
            <a:gdLst/>
            <a:ahLst/>
            <a:cxnLst/>
            <a:rect r="r" b="b" t="t" l="l"/>
            <a:pathLst>
              <a:path h="8623134" w="8439892">
                <a:moveTo>
                  <a:pt x="0" y="0"/>
                </a:moveTo>
                <a:lnTo>
                  <a:pt x="8439892" y="0"/>
                </a:lnTo>
                <a:lnTo>
                  <a:pt x="8439892" y="8623134"/>
                </a:lnTo>
                <a:lnTo>
                  <a:pt x="0" y="8623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2730" y="653763"/>
            <a:ext cx="13191080" cy="7914648"/>
          </a:xfrm>
          <a:custGeom>
            <a:avLst/>
            <a:gdLst/>
            <a:ahLst/>
            <a:cxnLst/>
            <a:rect r="r" b="b" t="t" l="l"/>
            <a:pathLst>
              <a:path h="7914648" w="13191080">
                <a:moveTo>
                  <a:pt x="0" y="0"/>
                </a:moveTo>
                <a:lnTo>
                  <a:pt x="13191080" y="0"/>
                </a:lnTo>
                <a:lnTo>
                  <a:pt x="13191080" y="7914648"/>
                </a:lnTo>
                <a:lnTo>
                  <a:pt x="0" y="7914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96145" y="-4311567"/>
            <a:ext cx="8439892" cy="8623134"/>
          </a:xfrm>
          <a:custGeom>
            <a:avLst/>
            <a:gdLst/>
            <a:ahLst/>
            <a:cxnLst/>
            <a:rect r="r" b="b" t="t" l="l"/>
            <a:pathLst>
              <a:path h="8623134" w="8439892">
                <a:moveTo>
                  <a:pt x="0" y="0"/>
                </a:moveTo>
                <a:lnTo>
                  <a:pt x="8439892" y="0"/>
                </a:lnTo>
                <a:lnTo>
                  <a:pt x="8439892" y="8623134"/>
                </a:lnTo>
                <a:lnTo>
                  <a:pt x="0" y="8623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9215" y="5129425"/>
            <a:ext cx="329102" cy="509986"/>
          </a:xfrm>
          <a:custGeom>
            <a:avLst/>
            <a:gdLst/>
            <a:ahLst/>
            <a:cxnLst/>
            <a:rect r="r" b="b" t="t" l="l"/>
            <a:pathLst>
              <a:path h="509986" w="329102">
                <a:moveTo>
                  <a:pt x="0" y="0"/>
                </a:moveTo>
                <a:lnTo>
                  <a:pt x="329103" y="0"/>
                </a:lnTo>
                <a:lnTo>
                  <a:pt x="329103" y="509985"/>
                </a:lnTo>
                <a:lnTo>
                  <a:pt x="0" y="509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186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7259" y="-94135"/>
            <a:ext cx="5335395" cy="5223559"/>
          </a:xfrm>
          <a:custGeom>
            <a:avLst/>
            <a:gdLst/>
            <a:ahLst/>
            <a:cxnLst/>
            <a:rect r="r" b="b" t="t" l="l"/>
            <a:pathLst>
              <a:path h="5223559" w="5335395">
                <a:moveTo>
                  <a:pt x="0" y="0"/>
                </a:moveTo>
                <a:lnTo>
                  <a:pt x="5335396" y="0"/>
                </a:lnTo>
                <a:lnTo>
                  <a:pt x="5335396" y="5223560"/>
                </a:lnTo>
                <a:lnTo>
                  <a:pt x="0" y="52235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21280" y="557172"/>
            <a:ext cx="11918052" cy="8243299"/>
          </a:xfrm>
          <a:custGeom>
            <a:avLst/>
            <a:gdLst/>
            <a:ahLst/>
            <a:cxnLst/>
            <a:rect r="r" b="b" t="t" l="l"/>
            <a:pathLst>
              <a:path h="8243299" w="11918052">
                <a:moveTo>
                  <a:pt x="0" y="0"/>
                </a:moveTo>
                <a:lnTo>
                  <a:pt x="11918052" y="0"/>
                </a:lnTo>
                <a:lnTo>
                  <a:pt x="11918052" y="8243299"/>
                </a:lnTo>
                <a:lnTo>
                  <a:pt x="0" y="82432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02" r="0" b="-60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8738" y="6499110"/>
            <a:ext cx="4847863" cy="1734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3"/>
              </a:lnSpc>
              <a:spcBef>
                <a:spcPct val="0"/>
              </a:spcBef>
            </a:pPr>
            <a:r>
              <a:rPr lang="en-US" sz="3094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E, H, J, K</a:t>
            </a:r>
            <a:r>
              <a:rPr lang="en-US" sz="3094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r>
              <a:rPr lang="en-US" sz="3094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are all &gt;1.1X market average → &gt;30% of their quotes </a:t>
            </a:r>
            <a:r>
              <a:rPr lang="en-US" sz="3094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are overpriced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58639" y="5018173"/>
            <a:ext cx="18446639" cy="59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4"/>
              </a:lnSpc>
              <a:spcBef>
                <a:spcPct val="0"/>
              </a:spcBef>
            </a:pPr>
            <a:r>
              <a:rPr lang="en-US" sz="4158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Half the market is overpriced and losing. That's where we enter.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952605" y="0"/>
            <a:ext cx="5335395" cy="5223559"/>
          </a:xfrm>
          <a:custGeom>
            <a:avLst/>
            <a:gdLst/>
            <a:ahLst/>
            <a:cxnLst/>
            <a:rect r="r" b="b" t="t" l="l"/>
            <a:pathLst>
              <a:path h="5223559" w="5335395">
                <a:moveTo>
                  <a:pt x="0" y="0"/>
                </a:moveTo>
                <a:lnTo>
                  <a:pt x="5335395" y="0"/>
                </a:lnTo>
                <a:lnTo>
                  <a:pt x="5335395" y="5223559"/>
                </a:lnTo>
                <a:lnTo>
                  <a:pt x="0" y="522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59202" y="6571324"/>
            <a:ext cx="860753" cy="1333846"/>
          </a:xfrm>
          <a:custGeom>
            <a:avLst/>
            <a:gdLst/>
            <a:ahLst/>
            <a:cxnLst/>
            <a:rect r="r" b="b" t="t" l="l"/>
            <a:pathLst>
              <a:path h="1333846" w="860753">
                <a:moveTo>
                  <a:pt x="0" y="0"/>
                </a:moveTo>
                <a:lnTo>
                  <a:pt x="860753" y="0"/>
                </a:lnTo>
                <a:lnTo>
                  <a:pt x="860753" y="1333845"/>
                </a:lnTo>
                <a:lnTo>
                  <a:pt x="0" y="133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1186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92699" y="-4311567"/>
            <a:ext cx="8439892" cy="8623134"/>
          </a:xfrm>
          <a:custGeom>
            <a:avLst/>
            <a:gdLst/>
            <a:ahLst/>
            <a:cxnLst/>
            <a:rect r="r" b="b" t="t" l="l"/>
            <a:pathLst>
              <a:path h="8623134" w="8439892">
                <a:moveTo>
                  <a:pt x="0" y="0"/>
                </a:moveTo>
                <a:lnTo>
                  <a:pt x="8439892" y="0"/>
                </a:lnTo>
                <a:lnTo>
                  <a:pt x="8439892" y="8623134"/>
                </a:lnTo>
                <a:lnTo>
                  <a:pt x="0" y="8623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8054" y="-4311567"/>
            <a:ext cx="8439892" cy="8623134"/>
          </a:xfrm>
          <a:custGeom>
            <a:avLst/>
            <a:gdLst/>
            <a:ahLst/>
            <a:cxnLst/>
            <a:rect r="r" b="b" t="t" l="l"/>
            <a:pathLst>
              <a:path h="8623134" w="8439892">
                <a:moveTo>
                  <a:pt x="0" y="0"/>
                </a:moveTo>
                <a:lnTo>
                  <a:pt x="8439892" y="0"/>
                </a:lnTo>
                <a:lnTo>
                  <a:pt x="8439892" y="8623134"/>
                </a:lnTo>
                <a:lnTo>
                  <a:pt x="0" y="8623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83531" y="-94135"/>
            <a:ext cx="5335395" cy="5223559"/>
          </a:xfrm>
          <a:custGeom>
            <a:avLst/>
            <a:gdLst/>
            <a:ahLst/>
            <a:cxnLst/>
            <a:rect r="r" b="b" t="t" l="l"/>
            <a:pathLst>
              <a:path h="5223559" w="5335395">
                <a:moveTo>
                  <a:pt x="0" y="0"/>
                </a:moveTo>
                <a:lnTo>
                  <a:pt x="5335396" y="0"/>
                </a:lnTo>
                <a:lnTo>
                  <a:pt x="5335396" y="5223560"/>
                </a:lnTo>
                <a:lnTo>
                  <a:pt x="0" y="522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9006" y="294280"/>
            <a:ext cx="12408578" cy="8267215"/>
          </a:xfrm>
          <a:custGeom>
            <a:avLst/>
            <a:gdLst/>
            <a:ahLst/>
            <a:cxnLst/>
            <a:rect r="r" b="b" t="t" l="l"/>
            <a:pathLst>
              <a:path h="8267215" w="12408578">
                <a:moveTo>
                  <a:pt x="0" y="0"/>
                </a:moveTo>
                <a:lnTo>
                  <a:pt x="12408579" y="0"/>
                </a:lnTo>
                <a:lnTo>
                  <a:pt x="12408579" y="8267215"/>
                </a:lnTo>
                <a:lnTo>
                  <a:pt x="0" y="8267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19108" y="4437413"/>
            <a:ext cx="5030996" cy="170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  <a:spcBef>
                <a:spcPct val="0"/>
              </a:spcBef>
            </a:pPr>
            <a:r>
              <a:rPr lang="en-US" sz="3015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E and K</a:t>
            </a:r>
            <a:r>
              <a:rPr lang="en-US" sz="3015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 </a:t>
            </a:r>
            <a:r>
              <a:rPr lang="en-US" sz="3015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quote a lot and win almost nothing. H barely shows up. These are the weaknesses to </a:t>
            </a:r>
            <a:r>
              <a:rPr lang="en-US" sz="3015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exploit.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27605" y="8661898"/>
            <a:ext cx="5414517" cy="120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3"/>
              </a:lnSpc>
              <a:spcBef>
                <a:spcPct val="0"/>
              </a:spcBef>
            </a:pPr>
            <a:r>
              <a:rPr lang="en-US" sz="2820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I, J </a:t>
            </a:r>
            <a:r>
              <a:rPr lang="en-US" sz="2820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are selective and somewhat expensive, with I charging </a:t>
            </a:r>
            <a:r>
              <a:rPr lang="en-US" sz="2820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+47% urban premium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96145" y="-4311567"/>
            <a:ext cx="8439892" cy="8623134"/>
          </a:xfrm>
          <a:custGeom>
            <a:avLst/>
            <a:gdLst/>
            <a:ahLst/>
            <a:cxnLst/>
            <a:rect r="r" b="b" t="t" l="l"/>
            <a:pathLst>
              <a:path h="8623134" w="8439892">
                <a:moveTo>
                  <a:pt x="0" y="0"/>
                </a:moveTo>
                <a:lnTo>
                  <a:pt x="8439892" y="0"/>
                </a:lnTo>
                <a:lnTo>
                  <a:pt x="8439892" y="8623134"/>
                </a:lnTo>
                <a:lnTo>
                  <a:pt x="0" y="8623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9215" y="5129425"/>
            <a:ext cx="329102" cy="509986"/>
          </a:xfrm>
          <a:custGeom>
            <a:avLst/>
            <a:gdLst/>
            <a:ahLst/>
            <a:cxnLst/>
            <a:rect r="r" b="b" t="t" l="l"/>
            <a:pathLst>
              <a:path h="509986" w="329102">
                <a:moveTo>
                  <a:pt x="0" y="0"/>
                </a:moveTo>
                <a:lnTo>
                  <a:pt x="329103" y="0"/>
                </a:lnTo>
                <a:lnTo>
                  <a:pt x="329103" y="509985"/>
                </a:lnTo>
                <a:lnTo>
                  <a:pt x="0" y="509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186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58043" y="7040628"/>
            <a:ext cx="2362343" cy="3368761"/>
          </a:xfrm>
          <a:custGeom>
            <a:avLst/>
            <a:gdLst/>
            <a:ahLst/>
            <a:cxnLst/>
            <a:rect r="r" b="b" t="t" l="l"/>
            <a:pathLst>
              <a:path h="3368761" w="2362343">
                <a:moveTo>
                  <a:pt x="0" y="0"/>
                </a:moveTo>
                <a:lnTo>
                  <a:pt x="2362344" y="0"/>
                </a:lnTo>
                <a:lnTo>
                  <a:pt x="2362344" y="3368761"/>
                </a:lnTo>
                <a:lnTo>
                  <a:pt x="0" y="3368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7259" y="-94135"/>
            <a:ext cx="5335395" cy="5223559"/>
          </a:xfrm>
          <a:custGeom>
            <a:avLst/>
            <a:gdLst/>
            <a:ahLst/>
            <a:cxnLst/>
            <a:rect r="r" b="b" t="t" l="l"/>
            <a:pathLst>
              <a:path h="5223559" w="5335395">
                <a:moveTo>
                  <a:pt x="0" y="0"/>
                </a:moveTo>
                <a:lnTo>
                  <a:pt x="5335396" y="0"/>
                </a:lnTo>
                <a:lnTo>
                  <a:pt x="5335396" y="5223560"/>
                </a:lnTo>
                <a:lnTo>
                  <a:pt x="0" y="52235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83938" y="4592465"/>
            <a:ext cx="6120125" cy="115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66"/>
              </a:lnSpc>
            </a:pPr>
            <a:r>
              <a:rPr lang="en-US" sz="8060">
                <a:solidFill>
                  <a:srgbClr val="5E17EB"/>
                </a:solidFill>
                <a:latin typeface="ABeeZee"/>
                <a:ea typeface="ABeeZee"/>
                <a:cs typeface="ABeeZee"/>
                <a:sym typeface="ABeeZee"/>
              </a:rPr>
              <a:t>Market gaps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4783" y="150260"/>
            <a:ext cx="13540584" cy="8124350"/>
          </a:xfrm>
          <a:custGeom>
            <a:avLst/>
            <a:gdLst/>
            <a:ahLst/>
            <a:cxnLst/>
            <a:rect r="r" b="b" t="t" l="l"/>
            <a:pathLst>
              <a:path h="8124350" w="13540584">
                <a:moveTo>
                  <a:pt x="0" y="0"/>
                </a:moveTo>
                <a:lnTo>
                  <a:pt x="13540583" y="0"/>
                </a:lnTo>
                <a:lnTo>
                  <a:pt x="13540583" y="8124351"/>
                </a:lnTo>
                <a:lnTo>
                  <a:pt x="0" y="8124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0716" y="8478520"/>
            <a:ext cx="13124650" cy="157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Worst intersection</a:t>
            </a:r>
            <a:r>
              <a:rPr lang="en-US" sz="2799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: </a:t>
            </a:r>
            <a:r>
              <a:rPr lang="en-US" sz="2799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y</a:t>
            </a:r>
            <a:r>
              <a:rPr lang="en-US" sz="2799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oung drivers + limited casco → 25% underserved rate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799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r>
              <a:rPr lang="en-US" sz="2799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Urban</a:t>
            </a:r>
            <a:r>
              <a:rPr lang="en-US" sz="2799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customers face </a:t>
            </a:r>
            <a:r>
              <a:rPr lang="en-US" sz="2799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wildly different pricing</a:t>
            </a:r>
            <a:r>
              <a:rPr lang="en-US" sz="2799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— I charges </a:t>
            </a:r>
            <a:r>
              <a:rPr lang="en-US" sz="2799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+47%</a:t>
            </a:r>
            <a:r>
              <a:rPr lang="en-US" sz="2799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urban premium, creating price shock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8054" y="-4311567"/>
            <a:ext cx="8439892" cy="8623134"/>
          </a:xfrm>
          <a:custGeom>
            <a:avLst/>
            <a:gdLst/>
            <a:ahLst/>
            <a:cxnLst/>
            <a:rect r="r" b="b" t="t" l="l"/>
            <a:pathLst>
              <a:path h="8623134" w="8439892">
                <a:moveTo>
                  <a:pt x="0" y="0"/>
                </a:moveTo>
                <a:lnTo>
                  <a:pt x="8439892" y="0"/>
                </a:lnTo>
                <a:lnTo>
                  <a:pt x="8439892" y="8623134"/>
                </a:lnTo>
                <a:lnTo>
                  <a:pt x="0" y="8623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9215" y="5129425"/>
            <a:ext cx="329102" cy="509986"/>
          </a:xfrm>
          <a:custGeom>
            <a:avLst/>
            <a:gdLst/>
            <a:ahLst/>
            <a:cxnLst/>
            <a:rect r="r" b="b" t="t" l="l"/>
            <a:pathLst>
              <a:path h="509986" w="329102">
                <a:moveTo>
                  <a:pt x="0" y="0"/>
                </a:moveTo>
                <a:lnTo>
                  <a:pt x="329103" y="0"/>
                </a:lnTo>
                <a:lnTo>
                  <a:pt x="329103" y="509985"/>
                </a:lnTo>
                <a:lnTo>
                  <a:pt x="0" y="509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1186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223" y="7040628"/>
            <a:ext cx="2362343" cy="3368761"/>
          </a:xfrm>
          <a:custGeom>
            <a:avLst/>
            <a:gdLst/>
            <a:ahLst/>
            <a:cxnLst/>
            <a:rect r="r" b="b" t="t" l="l"/>
            <a:pathLst>
              <a:path h="3368761" w="2362343">
                <a:moveTo>
                  <a:pt x="0" y="0"/>
                </a:moveTo>
                <a:lnTo>
                  <a:pt x="2362343" y="0"/>
                </a:lnTo>
                <a:lnTo>
                  <a:pt x="2362343" y="3368761"/>
                </a:lnTo>
                <a:lnTo>
                  <a:pt x="0" y="3368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83531" y="-94135"/>
            <a:ext cx="5335395" cy="5223559"/>
          </a:xfrm>
          <a:custGeom>
            <a:avLst/>
            <a:gdLst/>
            <a:ahLst/>
            <a:cxnLst/>
            <a:rect r="r" b="b" t="t" l="l"/>
            <a:pathLst>
              <a:path h="5223559" w="5335395">
                <a:moveTo>
                  <a:pt x="0" y="0"/>
                </a:moveTo>
                <a:lnTo>
                  <a:pt x="5335396" y="0"/>
                </a:lnTo>
                <a:lnTo>
                  <a:pt x="5335396" y="5223560"/>
                </a:lnTo>
                <a:lnTo>
                  <a:pt x="0" y="52235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7395" y="3059442"/>
            <a:ext cx="9318317" cy="101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3"/>
              </a:lnSpc>
            </a:pPr>
            <a:r>
              <a:rPr lang="en-US" sz="7094">
                <a:solidFill>
                  <a:srgbClr val="5E17EB"/>
                </a:solidFill>
                <a:latin typeface="ABeeZee"/>
                <a:ea typeface="ABeeZee"/>
                <a:cs typeface="ABeeZee"/>
                <a:sym typeface="ABeeZee"/>
              </a:rPr>
              <a:t>But things shift fast...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96145" y="-4311567"/>
            <a:ext cx="8439892" cy="8623134"/>
          </a:xfrm>
          <a:custGeom>
            <a:avLst/>
            <a:gdLst/>
            <a:ahLst/>
            <a:cxnLst/>
            <a:rect r="r" b="b" t="t" l="l"/>
            <a:pathLst>
              <a:path h="8623134" w="8439892">
                <a:moveTo>
                  <a:pt x="0" y="0"/>
                </a:moveTo>
                <a:lnTo>
                  <a:pt x="8439892" y="0"/>
                </a:lnTo>
                <a:lnTo>
                  <a:pt x="8439892" y="8623134"/>
                </a:lnTo>
                <a:lnTo>
                  <a:pt x="0" y="8623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47259" y="-94135"/>
            <a:ext cx="5335395" cy="5223559"/>
          </a:xfrm>
          <a:custGeom>
            <a:avLst/>
            <a:gdLst/>
            <a:ahLst/>
            <a:cxnLst/>
            <a:rect r="r" b="b" t="t" l="l"/>
            <a:pathLst>
              <a:path h="5223559" w="5335395">
                <a:moveTo>
                  <a:pt x="0" y="0"/>
                </a:moveTo>
                <a:lnTo>
                  <a:pt x="5335396" y="0"/>
                </a:lnTo>
                <a:lnTo>
                  <a:pt x="5335396" y="5223560"/>
                </a:lnTo>
                <a:lnTo>
                  <a:pt x="0" y="5223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6126" y="300266"/>
            <a:ext cx="14165980" cy="6959038"/>
          </a:xfrm>
          <a:custGeom>
            <a:avLst/>
            <a:gdLst/>
            <a:ahLst/>
            <a:cxnLst/>
            <a:rect r="r" b="b" t="t" l="l"/>
            <a:pathLst>
              <a:path h="6959038" w="14165980">
                <a:moveTo>
                  <a:pt x="0" y="0"/>
                </a:moveTo>
                <a:lnTo>
                  <a:pt x="14165981" y="0"/>
                </a:lnTo>
                <a:lnTo>
                  <a:pt x="14165981" y="6959038"/>
                </a:lnTo>
                <a:lnTo>
                  <a:pt x="0" y="6959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71195" y="8364872"/>
            <a:ext cx="13545609" cy="54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7"/>
              </a:lnSpc>
              <a:spcBef>
                <a:spcPct val="0"/>
              </a:spcBef>
            </a:pPr>
            <a:r>
              <a:rPr lang="en-US" sz="3743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The expensive players are feeling the pressure and adjusting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93991" y="940451"/>
            <a:ext cx="8270505" cy="842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519" indent="-366759" lvl="1">
              <a:lnSpc>
                <a:spcPts val="3737"/>
              </a:lnSpc>
              <a:spcBef>
                <a:spcPct val="0"/>
              </a:spcBef>
              <a:buFont typeface="Arial"/>
              <a:buChar char="•"/>
            </a:pP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High-value vehicles, young drivers, limited casco</a:t>
            </a:r>
          </a:p>
          <a:p>
            <a:pPr algn="l" marL="733519" indent="-366759" lvl="1">
              <a:lnSpc>
                <a:spcPts val="3737"/>
              </a:lnSpc>
              <a:spcBef>
                <a:spcPct val="0"/>
              </a:spcBef>
              <a:buFont typeface="Arial"/>
              <a:buChar char="•"/>
            </a:pP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r>
              <a:rPr lang="en-US" sz="3397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Price at 0.85-0.90× market average</a:t>
            </a: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— undercuts K/E/H substantially, but doesn't try to beat A's loss-leading 0.78×</a:t>
            </a:r>
          </a:p>
          <a:p>
            <a:pPr algn="l" marL="733519" indent="-366759" lvl="1">
              <a:lnSpc>
                <a:spcPts val="3737"/>
              </a:lnSpc>
              <a:spcBef>
                <a:spcPct val="0"/>
              </a:spcBef>
              <a:buFont typeface="Arial"/>
              <a:buChar char="•"/>
            </a:pP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Lead with </a:t>
            </a:r>
            <a:r>
              <a:rPr lang="en-US" sz="3397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limited casco</a:t>
            </a: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(44% of market, weakest competition) and casco for luxury vehicles (13% and gets ≤3 quotes)</a:t>
            </a:r>
          </a:p>
          <a:p>
            <a:pPr algn="l" marL="733519" indent="-366759" lvl="1">
              <a:lnSpc>
                <a:spcPts val="3737"/>
              </a:lnSpc>
              <a:spcBef>
                <a:spcPct val="0"/>
              </a:spcBef>
              <a:buFont typeface="Arial"/>
              <a:buChar char="•"/>
            </a:pPr>
            <a:r>
              <a:rPr lang="en-US" sz="3397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Flat urban pricing</a:t>
            </a: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— competitors charge 20-47% urban premiums; we offer mild 10-15% loading and steal urban share</a:t>
            </a:r>
          </a:p>
          <a:p>
            <a:pPr algn="l" marL="733519" indent="-366759" lvl="1">
              <a:lnSpc>
                <a:spcPts val="3737"/>
              </a:lnSpc>
              <a:spcBef>
                <a:spcPct val="0"/>
              </a:spcBef>
              <a:buFont typeface="Arial"/>
              <a:buChar char="•"/>
            </a:pPr>
            <a:r>
              <a:rPr lang="en-US" sz="3397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Deductible innovation</a:t>
            </a: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— market only offers 0 or 150 or 250 EUR. Should </a:t>
            </a:r>
            <a:r>
              <a:rPr lang="en-US" sz="3397">
                <a:solidFill>
                  <a:srgbClr val="5E17EB"/>
                </a:solidFill>
                <a:latin typeface="ABeeZee Bold"/>
                <a:ea typeface="ABeeZee Bold"/>
                <a:cs typeface="ABeeZee Bold"/>
                <a:sym typeface="ABeeZee Bold"/>
              </a:rPr>
              <a:t>introduce 250/500/1000 tiers</a:t>
            </a:r>
            <a:r>
              <a:rPr lang="en-US" sz="3397">
                <a:solidFill>
                  <a:srgbClr val="545454"/>
                </a:solidFill>
                <a:latin typeface="ABeeZee"/>
                <a:ea typeface="ABeeZee"/>
                <a:cs typeface="ABeeZee"/>
                <a:sym typeface="ABeeZee"/>
              </a:rPr>
              <a:t> for price-sensitive customers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392827"/>
            <a:ext cx="9693991" cy="6421021"/>
          </a:xfrm>
          <a:custGeom>
            <a:avLst/>
            <a:gdLst/>
            <a:ahLst/>
            <a:cxnLst/>
            <a:rect r="r" b="b" t="t" l="l"/>
            <a:pathLst>
              <a:path h="6421021" w="9693991">
                <a:moveTo>
                  <a:pt x="0" y="0"/>
                </a:moveTo>
                <a:lnTo>
                  <a:pt x="9693991" y="0"/>
                </a:lnTo>
                <a:lnTo>
                  <a:pt x="9693991" y="6421020"/>
                </a:lnTo>
                <a:lnTo>
                  <a:pt x="0" y="6421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8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DAHFR1SmRq8</dc:identifier>
  <dcterms:modified xsi:type="dcterms:W3CDTF">2011-08-01T06:04:30Z</dcterms:modified>
  <cp:revision>1</cp:revision>
  <dc:title>Insurance insights</dc:title>
</cp:coreProperties>
</file>